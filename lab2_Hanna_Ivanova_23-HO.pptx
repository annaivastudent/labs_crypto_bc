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AB081C-7CA8-4A0D-B270-FCE7F24DC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20D8634-06B4-46DA-BC4F-41B5E2DE3A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2DDF48-3522-4A19-BE14-2B94202A9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2DDA62D-7A58-4E77-9C0C-CA8D249BC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2C0B081-E948-4002-BAE5-0E348D875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8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43FC9-0A9F-472D-B0BA-930F38619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A26613-2A8A-4733-8EED-9AB947557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BA81BA-3FB3-46B4-A22B-13748A2D0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DB87F8-1018-4803-9650-3F72ED80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63BD8-F859-4984-AAC0-641656CE8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323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78687C-5D79-4C4B-B40A-7F1998660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8BE29E5-67F1-4F8D-8689-DE5DA8AF44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913C36-D826-4309-AC45-8FA42D188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BBFE10-936A-4EDF-9A17-EB8571BA3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4EA263-D37E-4EA6-8837-357C57591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885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F7B5D-C2E8-4752-81D3-7C4A219D3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F90E23-AC75-46CE-BF85-9BEA3954CC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6BA17D-6F03-4C62-95CA-8CAA2C2C2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5E070B-5B07-4C2B-98CA-7C69858FE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92A53C-0549-4251-8731-C5EFD12E5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A3E93F-6510-4629-A587-0D71B97A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620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82B362-7938-4FD1-900A-2C750541E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1030C26-717B-4D1A-A306-84C58481F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D6C493C-6E6D-4AFB-AF46-D438503F0E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0430826-AE58-45A9-A168-C3FF2BFF52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FF411B-5816-43AB-B5EC-941F6D5347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3A36FE5-41D9-4374-963D-99153068A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978B7CB-1DDC-4740-BBA7-B30DACD82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57E1C82-AB79-481B-84BD-DD157C896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6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83A0E5-3F60-448C-910E-1F0002E72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C524FC-8EDE-425A-BD52-4AF2B0519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3D46BB-E18A-4243-B457-CBD07A3FD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5AD47A-D0EA-49AD-9E6C-296FD3A8C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612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92DD86A-5B24-42B2-9A71-F0667E0DA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9B6CB74-8D93-4640-A33C-5338FDC91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2827032-C904-40AF-81A9-0BE791365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549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41EA7-C99C-4B1C-BEBF-54A9D1A2E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308AF1-2983-4F20-BBAE-6ADA9FDDB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2434C98-BCA5-42CD-A9B8-9A3FC00CF7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7E8BD2F-E5CD-4B25-88FC-90B9DD30F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177662-0904-4151-901F-76B5A4E0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A6AE0A-CB47-43BA-815E-968E28DB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35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1199BD-ADA8-4A1C-9218-2AF599B81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407637A-0DDC-4EB4-B37C-143B16466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6FB2F7-FBA4-4A1F-9E70-751C980162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D331180-7A83-4B8E-985D-7020CC8A7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4821C3-9832-4905-9684-C8407C5BB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7F9C9C-D309-4BFE-ABCD-CC01308D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43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BF72C2-C4D4-4E4D-8901-274618F12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A833B30-27D2-4459-8CC2-CE5C990B6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2D7FE7B-640E-425F-91CD-2776C9D09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BE8E00-45BC-4E0B-952D-644DB34D4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8C195D-065D-477E-80F7-C4EA7C7E0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766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3E555EA-035F-4D9F-B866-F0AE177DD8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81BAC14-8D45-4BD8-9E42-56D3E1D86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6A67A3-0CAE-49C3-813D-8A5DF21DB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FF1188-0855-48CE-BBD6-7409900B6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68A4A02-4D20-46EB-B326-091371E5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505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3D3CCB-5649-4268-AF7A-3BCA543C9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958BCDB-FFB1-4EC9-95C9-4BD6D09E9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F88096-F6E8-4285-9A0C-9B1CD06266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9A94FE-AD01-4633-B4E2-C8FC9463902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AE0725-8E94-4DE5-9434-BBAD1E650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DBAE59-D4BC-48AC-BBD3-647082F9B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8BF85-E869-4D2E-9624-ADCEAB470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790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CE0EED-85B5-4648-ADC2-2C7919749D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LABORATORY WORK 2</a:t>
            </a:r>
            <a:br>
              <a:rPr lang="ru-RU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/>
              <a:t>" </a:t>
            </a:r>
            <a:r>
              <a:rPr lang="en-US" dirty="0"/>
              <a:t>Research of a Level 1 Blockchain Network: Solana</a:t>
            </a:r>
            <a:r>
              <a:rPr lang="ru-RU" dirty="0"/>
              <a:t>"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7127DFC-BB06-4E11-9FF0-03BB710C75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r">
              <a:lnSpc>
                <a:spcPct val="160000"/>
              </a:lnSpc>
              <a:spcAft>
                <a:spcPts val="800"/>
              </a:spcAft>
              <a:tabLst>
                <a:tab pos="5074920" algn="l"/>
              </a:tabLs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Student: Hanna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Ivanova 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r">
              <a:lnSpc>
                <a:spcPct val="160000"/>
              </a:lnSpc>
              <a:spcAft>
                <a:spcPts val="800"/>
              </a:spcAft>
              <a:tabLst>
                <a:tab pos="5074920" algn="l"/>
              </a:tabLs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Group: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23-HO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ru-RU" sz="1600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r">
              <a:lnSpc>
                <a:spcPct val="160000"/>
              </a:lnSpc>
              <a:spcAft>
                <a:spcPts val="800"/>
              </a:spcAft>
              <a:tabLst>
                <a:tab pos="5074920" algn="l"/>
              </a:tabLs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Lecturer: Alexandra </a:t>
            </a: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Pitkevich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60000"/>
              </a:lnSpc>
            </a:pP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B9796D-C762-4649-9DFC-FA6FE563F184}"/>
              </a:ext>
            </a:extLst>
          </p:cNvPr>
          <p:cNvSpPr txBox="1"/>
          <p:nvPr/>
        </p:nvSpPr>
        <p:spPr>
          <a:xfrm>
            <a:off x="2895600" y="5349875"/>
            <a:ext cx="609600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Vilnius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2026</a:t>
            </a:r>
            <a:endParaRPr lang="en-US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350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32721D-077C-46B1-A22C-917BA968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Student information and Network selection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74A07B-85D8-4EDA-B2F7-F5A8A99CB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Name: Hanna</a:t>
            </a:r>
          </a:p>
          <a:p>
            <a:pPr marL="0" indent="0">
              <a:buNone/>
            </a:pPr>
            <a:r>
              <a:rPr lang="en-US" dirty="0"/>
              <a:t>Birthday: 07.10.1998</a:t>
            </a:r>
          </a:p>
          <a:p>
            <a:pPr marL="0" indent="0">
              <a:buNone/>
            </a:pPr>
            <a:r>
              <a:rPr lang="en-US" dirty="0"/>
              <a:t>Calculation:</a:t>
            </a:r>
          </a:p>
          <a:p>
            <a:pPr marL="0" indent="0">
              <a:buNone/>
            </a:pPr>
            <a:r>
              <a:rPr lang="en-US" dirty="0"/>
              <a:t>D = 7</a:t>
            </a:r>
          </a:p>
          <a:p>
            <a:pPr marL="0" indent="0">
              <a:buNone/>
            </a:pPr>
            <a:r>
              <a:rPr lang="en-US" dirty="0"/>
              <a:t>M = 10</a:t>
            </a:r>
          </a:p>
          <a:p>
            <a:pPr marL="0" indent="0">
              <a:buNone/>
            </a:pPr>
            <a:r>
              <a:rPr lang="en-US" dirty="0"/>
              <a:t>Y = 98</a:t>
            </a:r>
          </a:p>
          <a:p>
            <a:pPr marL="0" indent="0">
              <a:buNone/>
            </a:pPr>
            <a:r>
              <a:rPr lang="en-US" dirty="0"/>
              <a:t>S = D + M + Y = 7 + 10 + 98 = 115</a:t>
            </a:r>
          </a:p>
          <a:p>
            <a:pPr marL="0" indent="0">
              <a:buNone/>
            </a:pPr>
            <a:r>
              <a:rPr lang="en-US" dirty="0"/>
              <a:t>R = (S mod 16) + 1 = (115 mod 16) + 1 = 3 + 1 = 4</a:t>
            </a:r>
          </a:p>
          <a:p>
            <a:pPr marL="0" indent="0">
              <a:buNone/>
            </a:pPr>
            <a:r>
              <a:rPr lang="en-US" dirty="0"/>
              <a:t>Selected Network: Solana</a:t>
            </a:r>
          </a:p>
        </p:txBody>
      </p:sp>
    </p:spTree>
    <p:extLst>
      <p:ext uri="{BB962C8B-B14F-4D97-AF65-F5344CB8AC3E}">
        <p14:creationId xmlns:p14="http://schemas.microsoft.com/office/powerpoint/2010/main" val="404339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F8939B-5F18-4F9A-86DC-8991C4704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Blockchain Network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D73DE5-F9C4-466B-93E0-764FF7F6EA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Name: Solana</a:t>
            </a:r>
          </a:p>
          <a:p>
            <a:pPr marL="0" indent="0">
              <a:buNone/>
            </a:pPr>
            <a:r>
              <a:rPr lang="en-US" dirty="0" err="1"/>
              <a:t>Mainnet</a:t>
            </a:r>
            <a:r>
              <a:rPr lang="en-US" dirty="0"/>
              <a:t> Go-Live Year: 2020</a:t>
            </a:r>
          </a:p>
        </p:txBody>
      </p:sp>
    </p:spTree>
    <p:extLst>
      <p:ext uri="{BB962C8B-B14F-4D97-AF65-F5344CB8AC3E}">
        <p14:creationId xmlns:p14="http://schemas.microsoft.com/office/powerpoint/2010/main" val="187562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56E3B7-B8AE-4272-ACAA-FAAEDFB2F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Consensus Mechanism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961006-BFF0-4AAF-A245-5B57C15EF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Solana uses a hybrid consensus model:</a:t>
            </a:r>
          </a:p>
          <a:p>
            <a:r>
              <a:rPr lang="en-US" dirty="0"/>
              <a:t>Proof of History (</a:t>
            </a:r>
            <a:r>
              <a:rPr lang="en-US" dirty="0" err="1"/>
              <a:t>PoH</a:t>
            </a:r>
            <a:r>
              <a:rPr lang="en-US" dirty="0"/>
              <a:t>)</a:t>
            </a:r>
          </a:p>
          <a:p>
            <a:r>
              <a:rPr lang="en-US" dirty="0"/>
              <a:t>Proof of Stake (</a:t>
            </a:r>
            <a:r>
              <a:rPr lang="en-US" dirty="0" err="1"/>
              <a:t>PoS</a:t>
            </a:r>
            <a:r>
              <a:rPr lang="en-US" dirty="0"/>
              <a:t>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err="1"/>
              <a:t>PoH</a:t>
            </a:r>
            <a:r>
              <a:rPr lang="en-US" dirty="0"/>
              <a:t> provides a cryptographic clock to order transactions.</a:t>
            </a:r>
          </a:p>
          <a:p>
            <a:pPr marL="0" indent="0">
              <a:buNone/>
            </a:pPr>
            <a:r>
              <a:rPr lang="en-US" dirty="0"/>
              <a:t>Validators use </a:t>
            </a:r>
            <a:r>
              <a:rPr lang="en-US" dirty="0" err="1"/>
              <a:t>PoS</a:t>
            </a:r>
            <a:r>
              <a:rPr lang="en-US" dirty="0"/>
              <a:t> to agree on the state of the blockchain.</a:t>
            </a:r>
          </a:p>
        </p:txBody>
      </p:sp>
    </p:spTree>
    <p:extLst>
      <p:ext uri="{BB962C8B-B14F-4D97-AF65-F5344CB8AC3E}">
        <p14:creationId xmlns:p14="http://schemas.microsoft.com/office/powerpoint/2010/main" val="388826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7AF3C-5248-49D0-9998-71D3A55C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Ledger Topology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CC5DCA-81EF-455A-BDC8-77C20D69DB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Solana uses a traditional blockchain structure:</a:t>
            </a:r>
          </a:p>
          <a:p>
            <a:r>
              <a:rPr lang="en-US" dirty="0"/>
              <a:t>Chain of blocks</a:t>
            </a:r>
          </a:p>
          <a:p>
            <a:r>
              <a:rPr lang="en-US" dirty="0"/>
              <a:t>Blocks contain ordered transactions</a:t>
            </a:r>
          </a:p>
          <a:p>
            <a:r>
              <a:rPr lang="en-US" dirty="0"/>
              <a:t>Very high throughput due to parallel processing and </a:t>
            </a:r>
            <a:r>
              <a:rPr lang="en-US" dirty="0" err="1"/>
              <a:t>PoH</a:t>
            </a:r>
            <a:r>
              <a:rPr lang="en-US" dirty="0"/>
              <a:t> time ordering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948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884F1F-4952-4874-9164-E0CD8F1E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Hash Algorithm / Immutability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1E8A883-16CB-403A-AE32-9B1CA6CA6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Solana uses SHA-256 as the primary cryptographic hash function. Immutability is achieved through cryptographic hashing of blocks and by linking blocks together in a continuous chain. The validator consensus mechanism also ensures that previously confirmed transactions cannot be altered or rewritten, which helps maintain the integrity and security of the blockchain.</a:t>
            </a:r>
          </a:p>
        </p:txBody>
      </p:sp>
    </p:spTree>
    <p:extLst>
      <p:ext uri="{BB962C8B-B14F-4D97-AF65-F5344CB8AC3E}">
        <p14:creationId xmlns:p14="http://schemas.microsoft.com/office/powerpoint/2010/main" val="3657768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71C467-34A5-4EC1-97D1-8F9298AC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Join Model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BC7A31-C62C-4D11-84E9-B61AA9395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52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Solana is a PUBLIC blockchain network.</a:t>
            </a:r>
          </a:p>
          <a:p>
            <a:pPr marL="0" indent="0">
              <a:buNone/>
            </a:pPr>
            <a:r>
              <a:rPr lang="en-US" dirty="0"/>
              <a:t>Anyone can:</a:t>
            </a:r>
          </a:p>
          <a:p>
            <a:r>
              <a:rPr lang="en-US" dirty="0"/>
              <a:t>Access the network</a:t>
            </a:r>
          </a:p>
          <a:p>
            <a:r>
              <a:rPr lang="en-US" dirty="0"/>
              <a:t>Send transactions</a:t>
            </a:r>
          </a:p>
          <a:p>
            <a:r>
              <a:rPr lang="en-US" dirty="0"/>
              <a:t>Build decentralized applications (</a:t>
            </a:r>
            <a:r>
              <a:rPr lang="en-US" dirty="0" err="1"/>
              <a:t>dApps</a:t>
            </a:r>
            <a:r>
              <a:rPr lang="en-US" dirty="0"/>
              <a:t>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375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AFED0B-BE9E-45ED-83BC-9C35D3DA0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Permission Model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B139F5-29DE-49A4-9070-8F6919B1C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Solana is PERMISSIONLESS.</a:t>
            </a:r>
          </a:p>
          <a:p>
            <a:pPr marL="0" indent="0">
              <a:buNone/>
            </a:pPr>
            <a:r>
              <a:rPr lang="en-US" dirty="0"/>
              <a:t>Anyone can:</a:t>
            </a:r>
          </a:p>
          <a:p>
            <a:r>
              <a:rPr lang="en-US" dirty="0"/>
              <a:t>Become a validator (with sufficient stake and hardware)</a:t>
            </a:r>
          </a:p>
          <a:p>
            <a:r>
              <a:rPr lang="en-US" dirty="0"/>
              <a:t>Participate in the network</a:t>
            </a:r>
          </a:p>
          <a:p>
            <a:r>
              <a:rPr lang="en-US" dirty="0"/>
              <a:t>Develop smart contracts and applications.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711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90CACC-77A5-4B53-B9C8-85624EBE0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Blockchain Trilemma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0BC225-F777-4672-B304-82999D1B4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Blockchain Trilemma: Security, Decentralization, Scalability.</a:t>
            </a:r>
          </a:p>
          <a:p>
            <a:pPr marL="0" indent="0">
              <a:buNone/>
            </a:pPr>
            <a:r>
              <a:rPr lang="en-US" dirty="0"/>
              <a:t>Solana focuses strongly on scalability and performance.</a:t>
            </a:r>
          </a:p>
          <a:p>
            <a:pPr marL="0" indent="0">
              <a:buNone/>
            </a:pPr>
            <a:r>
              <a:rPr lang="en-US" dirty="0"/>
              <a:t>Design approach:</a:t>
            </a:r>
          </a:p>
          <a:p>
            <a:r>
              <a:rPr lang="en-US" dirty="0"/>
              <a:t>High transaction throughput (thousands TPS)</a:t>
            </a:r>
          </a:p>
          <a:p>
            <a:r>
              <a:rPr lang="en-US" dirty="0"/>
              <a:t>Low transaction costs</a:t>
            </a:r>
          </a:p>
          <a:p>
            <a:r>
              <a:rPr lang="en-US" dirty="0"/>
              <a:t>Uses </a:t>
            </a:r>
            <a:r>
              <a:rPr lang="en-US" dirty="0" err="1"/>
              <a:t>PoH</a:t>
            </a:r>
            <a:r>
              <a:rPr lang="en-US" dirty="0"/>
              <a:t> + </a:t>
            </a:r>
            <a:r>
              <a:rPr lang="en-US" dirty="0" err="1"/>
              <a:t>PoS</a:t>
            </a:r>
            <a:r>
              <a:rPr lang="en-US" dirty="0"/>
              <a:t> to maintain security</a:t>
            </a:r>
          </a:p>
          <a:p>
            <a:pPr marL="0" indent="0">
              <a:buNone/>
            </a:pPr>
            <a:r>
              <a:rPr lang="en-US" dirty="0"/>
              <a:t>Trade‑off: Requires powerful hardware for validators, which may affect decentralization.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239532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338</Words>
  <Application>Microsoft Office PowerPoint</Application>
  <PresentationFormat>Широкоэкранный</PresentationFormat>
  <Paragraphs>52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Тема Office</vt:lpstr>
      <vt:lpstr>LABORATORY WORK 2 " Research of a Level 1 Blockchain Network: Solana"</vt:lpstr>
      <vt:lpstr>Student information and Network selection</vt:lpstr>
      <vt:lpstr>Blockchain Network</vt:lpstr>
      <vt:lpstr>Consensus Mechanism</vt:lpstr>
      <vt:lpstr>Ledger Topology</vt:lpstr>
      <vt:lpstr>Hash Algorithm / Immutability</vt:lpstr>
      <vt:lpstr>Join Model</vt:lpstr>
      <vt:lpstr>Permission Model</vt:lpstr>
      <vt:lpstr>Blockchain Trilemma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Anna Ivanova</dc:creator>
  <cp:lastModifiedBy>Anna Ivanova</cp:lastModifiedBy>
  <cp:revision>4</cp:revision>
  <dcterms:created xsi:type="dcterms:W3CDTF">2026-03-14T08:32:32Z</dcterms:created>
  <dcterms:modified xsi:type="dcterms:W3CDTF">2026-03-14T13:32:56Z</dcterms:modified>
</cp:coreProperties>
</file>